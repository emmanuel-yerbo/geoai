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8"/>
    <p:sldId id="270" r:id="rId7"/>
    <p:sldId id="271" r:id="rId6"/>
    <p:sldId id="272" r:id="rId5"/>
    <p:sldId id="273" r:id="rId4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ederick Ato Armah" initials="FA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86455" autoAdjust="0"/>
  </p:normalViewPr>
  <p:slideViewPr>
    <p:cSldViewPr showGuides="1">
      <p:cViewPr varScale="1">
        <p:scale>
          <a:sx n="50" d="100"/>
          <a:sy n="50" d="100"/>
        </p:scale>
        <p:origin x="32" y="408"/>
      </p:cViewPr>
      <p:guideLst>
        <p:guide orient="horz" pos="2174"/>
        <p:guide pos="2784"/>
      </p:guideLst>
    </p:cSldViewPr>
  </p:slideViewPr>
  <p:outlineViewPr>
    <p:cViewPr>
      <p:scale>
        <a:sx n="33" d="100"/>
        <a:sy n="33" d="100"/>
      </p:scale>
      <p:origin x="0" y="-69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028094" cy="350139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l">
              <a:defRPr sz="11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6229" y="1"/>
            <a:ext cx="4028093" cy="350139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r">
              <a:defRPr sz="1100"/>
            </a:lvl1pPr>
          </a:lstStyle>
          <a:p>
            <a:fld id="{508F96F9-5206-FC4B-B27A-C1A0B439A641}" type="datetime1">
              <a:rPr lang="en-US" smtClean="0"/>
              <a:t>7/6/2026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9174"/>
            <a:ext cx="4028094" cy="350139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l">
              <a:defRPr sz="11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6229" y="6659174"/>
            <a:ext cx="4028093" cy="350139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r">
              <a:defRPr sz="1100"/>
            </a:lvl1pPr>
          </a:lstStyle>
          <a:p>
            <a:fld id="{ABFFB857-4233-4419-B872-91947700F1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0520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10" y="1"/>
            <a:ext cx="4028440" cy="350520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7866B7F2-8BF4-F843-AF8E-18F297B84C1E}" type="datetime1">
              <a:rPr lang="en-US" smtClean="0"/>
              <a:t>7/6/2026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527050"/>
            <a:ext cx="3502025" cy="2627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10" y="6658664"/>
            <a:ext cx="4028440" cy="350520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EB19495-9780-4B0E-A974-DD0D9BF4C172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066800"/>
            <a:ext cx="8610600" cy="4800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43433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382000" cy="43433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jpeg"/><Relationship Id="rId1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95300"/>
            <a:ext cx="716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2057401" y="1266488"/>
            <a:ext cx="5181600" cy="5056135"/>
          </a:xfrm>
          <a:prstGeom prst="rect">
            <a:avLst/>
          </a:prstGeom>
          <a:blipFill dpi="0" rotWithShape="1">
            <a:blip r:embed="rId15">
              <a:alphaModFix amt="3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1">
                <a:latin typeface="Arial Black"/>
              </a:rPr>
              <a:t>GeoAI-Driven Precision Agriculture: A Self-Trained 1D-CNN for Spectral-Temporal Vegetation Health Mapping and Variable-Rate Nitrogen Prescription in the Prestea Huni-Valley Municipality, Ghana</a:t>
            </a:r>
          </a:p>
          <a:p>
            <a:pPr algn="ctr"/>
            <a:r>
              <a:rPr sz="1500">
                <a:latin typeface="Times New Roman"/>
              </a:rPr>
              <a:t>
Presented by: Emmanuel Yerbo
Research Presentation &amp; Scientific Discussion</a:t>
            </a:r>
          </a:p>
          <a:p>
            <a:pPr algn="ctr"/>
            <a:r>
              <a:rPr sz="1300" b="1">
                <a:latin typeface="Times New Roman"/>
              </a:rPr>
              <a:t>Session: Agriculture, Food Security &amp; Water Management</a:t>
            </a:r>
          </a:p>
        </p:txBody>
      </p:sp>
      <p:pic>
        <p:nvPicPr>
          <p:cNvPr id="3" name="Picture 2" descr="dtt4s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0471"/>
          </a:xfrm>
          <a:prstGeom prst="rect">
            <a:avLst/>
          </a:prstGeom>
        </p:spPr>
      </p:pic>
      <p:pic>
        <p:nvPicPr>
          <p:cNvPr id="4" name="Picture 3" descr="e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0"/>
            <a:ext cx="1645920" cy="377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1. Background to Study</a:t>
            </a:r>
          </a:p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2. Statement of the Problem</a:t>
            </a:r>
          </a:p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3. Research Objectives</a:t>
            </a:r>
          </a:p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4. Study Area: Training &amp; Inference Domains</a:t>
            </a:r>
          </a:p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5. Methodology</a:t>
            </a:r>
          </a:p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6. Results</a:t>
            </a:r>
          </a:p>
          <a:p>
            <a:pPr algn="l">
              <a:spcAft>
                <a:spcPts val="400"/>
              </a:spcAft>
            </a:pPr>
            <a:r>
              <a:rPr sz="2400" b="0">
                <a:latin typeface="Times New Roman"/>
              </a:rPr>
              <a:t>7. Conclusion &amp; Research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Background: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latin typeface="Times New Roman"/>
              </a:rPr>
              <a:t>GeoAI (Geospatial Artificial Intelligence):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Times New Roman"/>
              </a:rPr>
              <a:t>• Integration of GIS, Remote Sensing, and Deep Learning to automate spatial decision-making [14].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latin typeface="Times New Roman"/>
              </a:rPr>
              <a:t>Precision Agriculture (PA):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Times New Roman"/>
              </a:rPr>
              <a:t>• Site-specific management using spatial inputs to optimize resource use and crop yield [13].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latin typeface="Times New Roman"/>
              </a:rPr>
              <a:t>The Gap in Sub-Saharan Africa: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Times New Roman"/>
              </a:rPr>
              <a:t>• Smallholders rely on blanket fertilizer rates, leading to environmental runoff and yield loss [8, 11].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[8] Biney et al. (2022); [11] Amoah &amp; Drechsel (2022); [13] Vizzari et al. (2019); [14] Kamilaris &amp; Prenafeta-Boldú (2018).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Statement of the Problem &amp; Scientific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1. East Africa (Kenya &amp; Uganda) [12]: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Burke &amp; Lobell (2017) mapped smallholder yield variability using satellites, proving that crop nitrogen responses are highly localized rather than uniform.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2. Mediterranean Basin (Italy) [13]: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Vizzari et al. (2019) applied Sentinel-2 Red-Edge indices for Variable-Rate nitrogen prescriptions in wheat, saving 20–30% fertilizer with zero yield loss.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3. Midwest United States [15]: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Zhong et al. (2019) demonstrated that 1D-CNNs can map crop health directly from multi-spectral bands, outperforming traditional machine learning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[12] Burke &amp; Lobell (2017); [13] Vizzari et al. (2019); [15] Zhong et al. (2019).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188720"/>
          <a:ext cx="83941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64"/>
                <a:gridCol w="2798064"/>
                <a:gridCol w="2798064"/>
              </a:tblGrid>
              <a:tr h="1188720">
                <a:tc>
                  <a:txBody>
                    <a:bodyPr wrap="square" lIns="73152" rIns="73152" tIns="73152" bIns="73152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PREVIOUS WORK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GHANA'S PROBLEM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 ERROS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1188720"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Burke &amp; Lobell (2017) [12]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Mapped smallholder yield variability using satellites in East Africa, proving crop responses to nitrogen are highly localized rather than uniform.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Yield &amp; Resource Gap [17]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Maize yields average only ~1.7 t/ha under uniform fertilizer recommendations. National CSIR target is 5.0-6.0 t/ha using site-specific inputs.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The Transferability Gap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Most agricultural deep learning models only report within-site and within-year accuracy. Performance in unseen regions/seasons remains untested [7].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188720"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Zhong et al. (2019) [15]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Demonstrated that 1D Convolutional Neural Networks (1D-CNNs) can map crop health directly from raw spectral bands, outperforming traditional machine learning.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Digital Advisory Gaps [18]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Ghana's mobile digital extension platforms are ready to deliver advisory service, but lack high-resolution spatial diagnostics at field scale.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Spatial Data Leakage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Random train-test splits allow autocorrelated pixels to leak between training and validation folds, producing artificially inflated model accuracy [1, 4].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188720"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Vizzari et al. (2019) [13]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Used Sentinel-2 Red-Edge bands for Variable-Rate Application (VRA) nitrogen prescriptions in wheat, saving 20-30% fertilizer with zero yield loss.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Environmental Runoff [8, 11]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Uniform fertilizer application causes heavy nitrogen leaching into the Ankobra River basin, compounding ecological stress from gold mining.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73152" bIns="73152"/>
                    <a:lstStyle/>
                    <a:p>
                      <a:pPr algn="l"/>
                      <a:r>
                        <a:rPr sz="1000" b="1">
                          <a:solidFill>
                            <a:srgbClr val="1B365D"/>
                          </a:solidFill>
                          <a:latin typeface="Times New Roman"/>
                        </a:rPr>
                        <a:t>Spectral Index Saturation [5]
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Times New Roman"/>
                        </a:rPr>
                        <a:t>Standard NDVI indices saturate under dense tropical vegetation canopies, limiting their capability to differentiate variations in crop nitrogen needs.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55555"/>
                </a:solidFill>
                <a:latin typeface="Times New Roman"/>
              </a:rPr>
              <a:t>[1] Meyer &amp; Pebesma (2021); [4] Roberts et al. (2017); [5] Clevers &amp; Gitelson (2013); [7] Ploton et al. (2020); [8] Biney et al. (2022); [11] Amoah &amp; Drechsel (2022); [12] Burke &amp; Lobell (2017); [13] Vizzari et al. (2019); [15] Zhong et al. (2019); [17] Asante &amp; Temoso (2019); [18] Adu-Poku et al. (2022).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Background: Local Necessity in Ghana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1. The Yield &amp; Resource Gap [17]: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Smallholder maize yields average only ~1.7 t/ha due to blanket fertilizer rates. CSIR targets 5.0–6.0 t/ha using hybrid seeds and site-specific inputs.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2. Environmental Runoff [8, 11]: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Uniform fertilizer application causes nitrogen leaching into the Ankobra River basin, compounding ecological stress from gold mining (galamsey).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3. Digital Advisory Gaps [18]: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Ghana's mobile extension infrastructure is ready to deliver agronomic advice, but lacks the field-scale spatial data needed for localized prescriptions.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[8] Biney et al. (2022); [11] Amoah &amp; Drechsel (2022); [17] Asante &amp; Temoso (2019) Agric. Syst.; [18] Adu-Poku et al. (2022) IFPRI.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Statement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latin typeface="Times New Roman"/>
              </a:rPr>
              <a:t>1. Spatial Data Leakage: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Random train-test splits allow autocorrelated pixels to leak between folds, producing artificially high validation accuracies [1, 4].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latin typeface="Times New Roman"/>
              </a:rPr>
              <a:t>2. The Transferability Gap: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Most crop classifiers only report within-site and within-year accuracy. Real-world performance in unseen regions/seasons remains untested [7].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latin typeface="Times New Roman"/>
              </a:rPr>
              <a:t>3. Spectral Index Saturation: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Standard NDVI crop health indices saturate in dense tropical canopies, limiting their utility for variable-rate fertilizer mapping [5].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 Methods Ecol. Evol.; [4] Roberts et al. (2017) Ecography; [5] Clevers &amp; Gitelson (2013); [7] Ploton et al. (2020) Nat. Commun.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latin typeface="Times New Roman"/>
              </a:rPr>
              <a:t>Main Objective: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To develop and evaluate a dual-axis (spatial and temporal) transferability framework for GeoAI-driven vegetation health mapping and variable-rate nitrogen prescribing in Ghana.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latin typeface="Times New Roman"/>
              </a:rPr>
              <a:t>Specific Objectives: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To train a lightweight 1D-CNN (VegHealthCNN) on Sentinel-2 imagery from the Akaakuma area using Spatial Block Cross-Validation [1, 3].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To evaluate spatial transferability by deploying the frozen model to the geographically separate Prestea Huni-Valley Municipal Assembly (PHMA) for the same year (2024).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To evaluate temporal transferability by applying the frozen model to PHMA 2025 composites without retraining.</a:t>
            </a:r>
          </a:p>
          <a:p>
            <a:pPr algn="l">
              <a:spcAft>
                <a:spcPts val="400"/>
              </a:spcAft>
            </a:pPr>
            <a:r>
              <a:rPr sz="1900" b="0">
                <a:latin typeface="Times New Roman"/>
              </a:rPr>
              <a:t>• To couple the transferred classification with an NDRE-modulated variable-rate nitrogen prescription model [5].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(2021); [3] Valavi et al. (2019) Methods Ecol. Evol.; [5] Clevers &amp; Gitelson (2013) Int. J. Appl. Earth Obs. Geoinf.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 Black"/>
              </a:rPr>
              <a:t>Study Area: Training &amp; Inference Domains</a:t>
            </a:r>
          </a:p>
        </p:txBody>
      </p:sp>
      <p:pic>
        <p:nvPicPr>
          <p:cNvPr id="3" name="Picture 2" descr="study_area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latin typeface="Times New Roman"/>
              </a:rPr>
              <a:t>Training Site: Akaakuma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Western Region, Ghana.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1,500 self-labeled coordinates.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latin typeface="Times New Roman"/>
              </a:rPr>
              <a:t>Inference Domain: PHMA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~1,808 km², artisanal mining pressure [8, 9].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latin typeface="Times New Roman"/>
              </a:rPr>
              <a:t>Feature Stack (14 variables):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9 Sentinel-2 bands + 5 indices (EVI, SAVI, NDRE, BSI, NDMI) [5].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NDVI excluded to prevent label circularity.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[5] Clevers &amp; Gitelson (2013); [8] Biney et al. (2022); [9] Baddianaah et al. (2023).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 Black"/>
              </a:rPr>
              <a:t>Methodology: Research Pipeline Workflow</a:t>
            </a:r>
          </a:p>
        </p:txBody>
      </p:sp>
      <p:pic>
        <p:nvPicPr>
          <p:cNvPr id="3" name="Picture 2" descr="workflow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74903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0" y="109728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latin typeface="Times New Roman"/>
              </a:rPr>
              <a:t>Phase 1: Dataset Construction &amp; Feature Extraction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Sampled 1,500 coordinates in Akaakuma training site.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Generated 14-variable stack using Google Earth Engine.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Proxy labels [5]: Healthy (NDVI ≥ 0.70) | Stress (0.40–0.70) | Non-Veg (&lt; 0.40).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latin typeface="Times New Roman"/>
              </a:rPr>
              <a:t>Phase 2: Model Development &amp; Validation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VegHealthCNN 1D-CNN (57K parameters) developed [2].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0.01° grid spatial blocks built for Block CV [3].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Evaluated spatial block performance on independent test blocks.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latin typeface="Times New Roman"/>
              </a:rPr>
              <a:t>Phase 3: Inference Domain Transfer &amp; VRA Prescription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Transferred frozen model spatially (PHMA 2024) [1].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Transferred frozen model temporally (PHMA 2025).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Coupled with NDRE variable-rate nitrogen prescription.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(2021); [2] Hu et al. (2015); [3] Valavi et al. (2019); [5] Clevers &amp; Gitelson (2013).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 Black"/>
              </a:rPr>
              <a:t>Methodology: Spatial Block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• Training domain tessellated into 0.01° blocks (~1.1 km) [3].</a:t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• GroupKFold: no training/test samples share a geographic block [1].</a:t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• 301 spatially independent test samples.</a:t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• Eliminates spatial autocorrelation leakage [4].</a:t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🔵 Blue = Training blocks</a:t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🔴 Red = Held-out test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(2021); [3] Valavi et al. (2019); [4] Roberts et al. (2017) Ecography.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55933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Results: Within-Domain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700" b="1">
                <a:latin typeface="Times New Roman"/>
              </a:rPr>
              <a:t>Per-class performance under Spatial Block CV (n = 301 test samples)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10312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latin typeface="Times New Roman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Times New Roman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Times New Roman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latin typeface="Times New Roman"/>
                        </a:rPr>
                        <a:t>F1-Score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latin typeface="Times New Roman"/>
                        </a:rPr>
                        <a:t>Healthy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99.4%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latin typeface="Times New Roman"/>
                        </a:rPr>
                        <a:t>Moderate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96.8%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latin typeface="Times New Roman"/>
                        </a:rPr>
                        <a:t>Non-Vegetation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98.0%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Times New Roman"/>
              </a:rPr>
              <a:t>• Overall Accuracy: 98.7%</a:t>
            </a:r>
            <a:br/>
            <a:r>
              <a:t>• High scores across all classes confirm generalized, block-invariant spectral feature learning [1, 4].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(2021); [4] Roberts et al. (2017).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 Black"/>
              </a:rPr>
              <a:t>Results: Spatial Transferability</a:t>
            </a:r>
          </a:p>
        </p:txBody>
      </p:sp>
      <p:pic>
        <p:nvPicPr>
          <p:cNvPr id="3" name="Picture 2" descr="model_transfer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852160" cy="3511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97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Frozen Akaakuma model deployed wall-to-wall to PHMA (2024) [1].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Mapped 1,808.34 km² total area.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→ Patterns match known gradients.</a:t>
            </a:r>
          </a:p>
        </p:txBody>
      </p:sp>
      <p:pic>
        <p:nvPicPr>
          <p:cNvPr id="5" name="Picture 4" descr="chart_veg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926080"/>
            <a:ext cx="2834640" cy="2598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(2021); [8] Biney et al. (2022) J. Landsc. Ecol.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 Black"/>
              </a:rPr>
              <a:t>Results: Temporal Transferability</a:t>
            </a:r>
          </a:p>
        </p:txBody>
      </p:sp>
      <p:pic>
        <p:nvPicPr>
          <p:cNvPr id="3" name="Picture 2" descr="temporal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852160" cy="3785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097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Applied to 2025 composites without retraining.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• Detects 370.31 km² veg loss concentrated along Ankobra [8, 9].</a:t>
            </a:r>
          </a:p>
          <a:p>
            <a:pPr algn="l">
              <a:spcAft>
                <a:spcPts val="400"/>
              </a:spcAft>
            </a:pPr>
            <a:r>
              <a:rPr sz="1500" b="0">
                <a:latin typeface="Times New Roman"/>
              </a:rPr>
              <a:t>→ Consistent with GNA reports [10].</a:t>
            </a:r>
          </a:p>
        </p:txBody>
      </p:sp>
      <p:pic>
        <p:nvPicPr>
          <p:cNvPr id="5" name="Picture 4" descr="chart_veg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926080"/>
            <a:ext cx="2834640" cy="2598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[8] Biney et al. (2022); [9] Baddianaah et al. (2023); [10] Ghana News Agency (2026).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 Black"/>
              </a:rPr>
              <a:t>Results: Variable-Rate Nitrogen Prescription</a:t>
            </a:r>
          </a:p>
        </p:txBody>
      </p:sp>
      <p:pic>
        <p:nvPicPr>
          <p:cNvPr id="3" name="Picture 2" descr="vra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486400" cy="3329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097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• Area: 172,334 ha of vegetated land.</a:t>
            </a:r>
          </a:p>
          <a:p>
            <a:pPr algn="l">
              <a:spcAft>
                <a:spcPts val="400"/>
              </a:spcAft>
            </a:pPr>
            <a:r>
              <a:t>• NSI-Adapted VRA Model [5, 12]: R = 120 × (1.0 − NDRE) kg N/ha.</a:t>
            </a:r>
          </a:p>
          <a:p>
            <a:pPr algn="l">
              <a:spcAft>
                <a:spcPts val="400"/>
              </a:spcAft>
            </a:pPr>
            <a:r>
              <a:rPr sz="1600" b="0">
                <a:latin typeface="Times New Roman"/>
              </a:rPr>
              <a:t>• Prevents watershed runoff in Ankobra basin [11].</a:t>
            </a:r>
          </a:p>
        </p:txBody>
      </p:sp>
      <p:pic>
        <p:nvPicPr>
          <p:cNvPr id="5" name="Picture 4" descr="chart_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834640"/>
            <a:ext cx="3017520" cy="2766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[5] Clevers &amp; Gitelson (2013); [11] Amoah &amp; Drechsel (2022); [12] Nigon et al. (2013); [16] CSIR-CRI (2015).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Conclusion &amp; Research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Conclusions: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1. VegHealthCNN (57K params) achieves 98.7% accuracy under strict Spatial Block CV [1, 3].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2. Spatial transfer generalises the frozen model from Akaakuma to PHMA without retraining.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3. Temporal transfer detects 370.31 km² galamsey-driven vegetation loss (2024 → 2025) [8, 10].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4. NDRE-modulated VRA projects 19.5% nitrogen saving (~4.02 million kg N) [5].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Times New Roman"/>
              </a:rPr>
              <a:t>Limitations: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NDVI-derived proxy labels lack field-level verification.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Spatial transfer assessed qualitatively (no ground-truth in PHMA).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Cannot distinguish seasonal phenology from permanent land-cover change.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Times New Roman"/>
              </a:rPr>
              <a:t>• VRA model requires in-situ agronomic calibration prior to field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  <a:latin typeface="Times New Roman"/>
              </a:rPr>
              <a:t>[1] Meyer &amp; Pebesma (2021); [3] Valavi et al. (2019); [5] Clevers &amp; Gitelson (2013); [8] Biney et al. (2022); [10] GNA (2026).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Project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17321"/>
            <a:ext cx="8382000" cy="4892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latin typeface="Times New Roman"/>
              </a:rPr>
              <a:t>1. Methodological Standard (Research &amp; Reporting):</a:t>
            </a:r>
          </a:p>
          <a:p>
            <a:pPr algn="l">
              <a:spcAft>
                <a:spcPts val="400"/>
              </a:spcAft>
            </a:pPr>
            <a:r>
              <a:rPr sz="1400" b="0">
                <a:latin typeface="Times New Roman"/>
              </a:rPr>
              <a:t>• Academic and research institutions should adopt Spatial Block Cross-Validation as the standard validation protocol for spatial ML models to prevent accuracy inflation and report defensible generalization metrics.</a:t>
            </a:r>
          </a:p>
          <a:p>
            <a:pPr algn="l">
              <a:spcAft>
                <a:spcPts val="400"/>
              </a:spcAft>
            </a:pPr>
            <a:r>
              <a:rPr sz="14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latin typeface="Times New Roman"/>
              </a:rPr>
              <a:t>2. Environmental Policy (Monitoring &amp; Enforcement):</a:t>
            </a:r>
          </a:p>
          <a:p>
            <a:pPr algn="l">
              <a:spcAft>
                <a:spcPts val="400"/>
              </a:spcAft>
            </a:pPr>
            <a:r>
              <a:rPr sz="1400" b="0">
                <a:latin typeface="Times New Roman"/>
              </a:rPr>
              <a:t>• The EPA and Forestry Commission should deploy municipal-scale temporal satellite monitoring pipelines to track galamsey-driven forest degradation and target reclamation along critical river basins.</a:t>
            </a:r>
          </a:p>
          <a:p>
            <a:pPr algn="l">
              <a:spcAft>
                <a:spcPts val="400"/>
              </a:spcAft>
            </a:pPr>
            <a:r>
              <a:rPr sz="1400" b="0"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latin typeface="Times New Roman"/>
              </a:rPr>
              <a:t>3. Agronomic Practice (Digital Agricultural Extension):</a:t>
            </a:r>
          </a:p>
          <a:p>
            <a:pPr algn="l">
              <a:spcAft>
                <a:spcPts val="400"/>
              </a:spcAft>
            </a:pPr>
            <a:r>
              <a:rPr sz="1400" b="0">
                <a:latin typeface="Times New Roman"/>
              </a:rPr>
              <a:t>• MoFA should integrate NDRE-modulated variable-rate nitrogen prescriptions into digital extension platforms to transition smallholders from wasteful blanket fertilisation to site-specific applications, saving ~19.5% of input costs.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Arial Black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17321"/>
            <a:ext cx="8382000" cy="4800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[1] H. Meyer &amp; E. Pebesma, Methods Ecol. Evol., vol. 12, 2021.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[2] W. Hu et al., J. Sensors, vol. 2015.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[3] R. Valavi et al., Methods Ecol. Evol., vol. 10, 2019.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[4] D. R. Roberts et al., Ecography, vol. 40, 2017.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[5] J. Clevers &amp; A. Gitelson, Int. J. Appl. Earth Obs. Geoinf., vol. 23, 2013.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[6] A. Wadoux et al., Ecol. Modelling, vol. 457, 2021.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[7] P. Ploton et al., Nat. Commun., vol. 11, 2020.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[8] E. Biney et al., J. Landsc. Ecol., vol. 15, 2022.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[9] I. Baddianaah et al., Mineral Econ., vol. 36, 2023.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[10] Ghana News Agency, GNA News, Accra, 2026.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[11] E. Amoah &amp; P. Drechsel, Environ. Monit. Assess., vol. 194, 2022.</a:t>
            </a:r>
          </a:p>
          <a:p>
            <a:pPr algn="l">
              <a:spcAft>
                <a:spcPts val="400"/>
              </a:spcAft>
            </a:pPr>
            <a:r>
              <a:t>[12] T. J. Nigon et al., "Evaluation of the nitrogen sufficiency index for use with high resolution, broadband aerial imagery in a commercial potato field," Precision Agric., 2014.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[13] M. Vizzari et al., Agronomy, vol. 9, 2019.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[14] A. Kamilaris &amp; F. X. Prenafeta-Boldú, Comput. Electron. Agric., vol. 147, 2018.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[15] L. Zhong et al., Remote Sens. Environ., vol. 221, 2019.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[16] CSIR-Crops Research Institute (CRI), Technical Advisory Bulletin, Kumasi, 2015.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[17] B. O. Asante &amp; O. Temoso, Agric. Syst., vol. 176, 2019.</a:t>
            </a:r>
          </a:p>
          <a:p>
            <a:pPr algn="l">
              <a:spcAft>
                <a:spcPts val="400"/>
              </a:spcAft>
            </a:pPr>
            <a:r>
              <a:rPr sz="900" b="0">
                <a:latin typeface="Times New Roman"/>
              </a:rPr>
              <a:t>[18] S. Adu-Poku et al., IFPRI Policy Brief, 2022.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4400" b="1">
                <a:latin typeface="Arial Black"/>
              </a:rPr>
              <a:t>Thank You</a:t>
            </a:r>
          </a:p>
          <a:p>
            <a:pPr algn="ctr"/>
            <a:r>
              <a:rPr sz="2600">
                <a:latin typeface="Arial Black"/>
              </a:rPr>
              <a:t>Questions &amp; Discussion</a:t>
            </a:r>
          </a:p>
          <a:p>
            <a:pPr algn="ctr"/>
            <a:r>
              <a:rPr sz="1700">
                <a:latin typeface="Times New Roman"/>
              </a:rPr>
              <a:t>
Emmanuel Yerbo
Email: emmanuel.yerbo@ucc.edu.gh
GeoAI4SD 2026 Conference Participant</a:t>
            </a:r>
          </a:p>
        </p:txBody>
      </p:sp>
      <p:pic>
        <p:nvPicPr>
          <p:cNvPr id="3" name="Picture 2" descr="dtt4s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0471"/>
          </a:xfrm>
          <a:prstGeom prst="rect">
            <a:avLst/>
          </a:prstGeom>
        </p:spPr>
      </p:pic>
      <p:pic>
        <p:nvPicPr>
          <p:cNvPr id="4" name="Picture 3" descr="e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0"/>
            <a:ext cx="1645920" cy="377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STRATEGIC MANAGEMENT OF ACADEMIC LIBRARIES GLA FINAL</Template>
  <TotalTime>45</TotalTime>
  <Words>1258</Words>
  <Application>Microsoft Office PowerPoint</Application>
  <PresentationFormat>On-screen Show (4:3)</PresentationFormat>
  <Paragraphs>175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Times New Roman</vt:lpstr>
      <vt:lpstr>Office Theme</vt:lpstr>
      <vt:lpstr>UNIVERSITY OF CAPE COAST COLLEGE OF HUMANITIES AND LEGAL STUDIES FACULTY OF SOCIAL SCIENCES DEPARTMENT OF GEOGRAPHY AND REGIONAL PLANNING</vt:lpstr>
      <vt:lpstr>Presentation Outline</vt:lpstr>
      <vt:lpstr>Background to the Study    </vt:lpstr>
      <vt:lpstr>Background to the Study(cont’d)</vt:lpstr>
      <vt:lpstr>Background to the Study(cont’d)</vt:lpstr>
      <vt:lpstr>Statement of the Problem</vt:lpstr>
      <vt:lpstr>Statement of the Problem(cont’d)</vt:lpstr>
      <vt:lpstr>Statement of the Problem(cont’d) </vt:lpstr>
      <vt:lpstr>Research Objectives</vt:lpstr>
      <vt:lpstr>Research Questions</vt:lpstr>
      <vt:lpstr>Significance of the Study</vt:lpstr>
      <vt:lpstr>Significance of the Study</vt:lpstr>
      <vt:lpstr>Theoretical Framework</vt:lpstr>
      <vt:lpstr>Conceptual Framework</vt:lpstr>
      <vt:lpstr>Conceptual Framework cont’d</vt:lpstr>
      <vt:lpstr>STUDY AREA MAP-CAPE COAST METROPOLIS</vt:lpstr>
      <vt:lpstr>Research Methodology</vt:lpstr>
      <vt:lpstr>Methodology Cont’</vt:lpstr>
      <vt:lpstr>Ethical Consideration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MANAGEMENT OF ACADEMIC LIBRARIES IN GHANA</dc:title>
  <dc:creator>Elizabeth Dede Anane</dc:creator>
  <cp:lastModifiedBy>Nana Cepher</cp:lastModifiedBy>
  <cp:revision>413</cp:revision>
  <cp:lastPrinted>2022-04-25T15:31:00Z</cp:lastPrinted>
  <dcterms:created xsi:type="dcterms:W3CDTF">2023-01-14T10:38:00Z</dcterms:created>
  <dcterms:modified xsi:type="dcterms:W3CDTF">2026-07-06T12:13:16Z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FF0802B7690B441DAF57733A654EB0F1_13</vt:lpwstr>
  </property>
  <property fmtid="{D5CDD505-2E9C-101B-9397-08002B2CF9AE}" pid="3" name="KSOProductBuildVer">
    <vt:lpwstr>1033-12.1.0.26880</vt:lpwstr>
  </property>
</Properties>
</file>